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/>
          <p:cNvSpPr/>
          <p:nvPr/>
        </p:nvSpPr>
        <p:spPr>
          <a:xfrm>
            <a:off x="-1" y="0"/>
            <a:ext cx="7315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2"/>
          <p:cNvSpPr/>
          <p:nvPr/>
        </p:nvSpPr>
        <p:spPr>
          <a:xfrm>
            <a:off x="7498080" y="274320"/>
            <a:ext cx="1508761" cy="34747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3"/>
          <p:cNvSpPr txBox="1"/>
          <p:nvPr/>
        </p:nvSpPr>
        <p:spPr>
          <a:xfrm>
            <a:off x="7452359" y="384555"/>
            <a:ext cx="1600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800">
                <a:solidFill>
                  <a:srgbClr val="060E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ML · NLP · TRADING</a:t>
            </a:r>
          </a:p>
        </p:txBody>
      </p:sp>
      <p:sp>
        <p:nvSpPr>
          <p:cNvPr id="23" name="Text 4"/>
          <p:cNvSpPr txBox="1"/>
          <p:nvPr/>
        </p:nvSpPr>
        <p:spPr>
          <a:xfrm>
            <a:off x="411480" y="98806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 &amp; ENGINEERING REPORT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411480" y="1176020"/>
            <a:ext cx="7772401" cy="185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Crypto AI</a:t>
            </a:r>
          </a:p>
          <a:p>
            <a:pPr>
              <a:defRPr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Trading Terminal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411480" y="3072963"/>
            <a:ext cx="6858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AF0F6"/>
                </a:solidFill>
              </a:defRPr>
            </a:lvl1pPr>
          </a:lstStyle>
          <a:p>
            <a:pPr/>
            <a:r>
              <a:t>End-to-End Algorithmic Bitcoin Direction Prediction System</a:t>
            </a:r>
          </a:p>
        </p:txBody>
      </p:sp>
      <p:sp>
        <p:nvSpPr>
          <p:cNvPr id="26" name="Text 7"/>
          <p:cNvSpPr txBox="1"/>
          <p:nvPr/>
        </p:nvSpPr>
        <p:spPr>
          <a:xfrm>
            <a:off x="411480" y="3567606"/>
            <a:ext cx="68580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B93AC"/>
                </a:solidFill>
              </a:defRPr>
            </a:lvl1pPr>
          </a:lstStyle>
          <a:p>
            <a:pPr/>
            <a:r>
              <a:t>Stack: Python · XGBoost · VADER NLP · Streamlit · Pandas · REST APIs</a:t>
            </a:r>
          </a:p>
        </p:txBody>
      </p:sp>
      <p:sp>
        <p:nvSpPr>
          <p:cNvPr id="27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9"/>
          <p:cNvSpPr txBox="1"/>
          <p:nvPr/>
        </p:nvSpPr>
        <p:spPr>
          <a:xfrm>
            <a:off x="0" y="495934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B93A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CONFIDENTIAL — ACADEMIC SUBMISSION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31" name="Text 1"/>
          <p:cNvSpPr txBox="1"/>
          <p:nvPr/>
        </p:nvSpPr>
        <p:spPr>
          <a:xfrm>
            <a:off x="411479" y="541019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Executive Summary</a:t>
            </a:r>
          </a:p>
        </p:txBody>
      </p:sp>
      <p:sp>
        <p:nvSpPr>
          <p:cNvPr id="32" name="Shape 2"/>
          <p:cNvSpPr/>
          <p:nvPr/>
        </p:nvSpPr>
        <p:spPr>
          <a:xfrm>
            <a:off x="320039" y="1371600"/>
            <a:ext cx="2697482" cy="32004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" name="Shape 3"/>
          <p:cNvSpPr/>
          <p:nvPr/>
        </p:nvSpPr>
        <p:spPr>
          <a:xfrm>
            <a:off x="320039" y="1371600"/>
            <a:ext cx="2697482" cy="9144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5"/>
          <p:cNvSpPr txBox="1"/>
          <p:nvPr/>
        </p:nvSpPr>
        <p:spPr>
          <a:xfrm>
            <a:off x="429768" y="2229357"/>
            <a:ext cx="248716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429768" y="2560320"/>
            <a:ext cx="2487168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Bitcoin markets are driven by human emotion and complex financial signals — too chaotic for manual analysis.</a:t>
            </a:r>
          </a:p>
        </p:txBody>
      </p:sp>
      <p:sp>
        <p:nvSpPr>
          <p:cNvPr id="36" name="Shape 7"/>
          <p:cNvSpPr/>
          <p:nvPr/>
        </p:nvSpPr>
        <p:spPr>
          <a:xfrm>
            <a:off x="3200400" y="1371600"/>
            <a:ext cx="2697481" cy="32004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" name="Shape 8"/>
          <p:cNvSpPr/>
          <p:nvPr/>
        </p:nvSpPr>
        <p:spPr>
          <a:xfrm>
            <a:off x="3200400" y="1371600"/>
            <a:ext cx="2697481" cy="9144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0"/>
          <p:cNvSpPr txBox="1"/>
          <p:nvPr/>
        </p:nvSpPr>
        <p:spPr>
          <a:xfrm>
            <a:off x="3310128" y="2229357"/>
            <a:ext cx="248716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39" name="Text 11"/>
          <p:cNvSpPr txBox="1"/>
          <p:nvPr/>
        </p:nvSpPr>
        <p:spPr>
          <a:xfrm>
            <a:off x="3310128" y="2560320"/>
            <a:ext cx="2487169" cy="7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A full-stack ML system combining NLP sentiment analysis with an XGBoost classification model to predict BTC direction.</a:t>
            </a:r>
          </a:p>
        </p:txBody>
      </p:sp>
      <p:sp>
        <p:nvSpPr>
          <p:cNvPr id="40" name="Shape 12"/>
          <p:cNvSpPr/>
          <p:nvPr/>
        </p:nvSpPr>
        <p:spPr>
          <a:xfrm>
            <a:off x="6080759" y="1371600"/>
            <a:ext cx="2697481" cy="32004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" name="Shape 13"/>
          <p:cNvSpPr/>
          <p:nvPr/>
        </p:nvSpPr>
        <p:spPr>
          <a:xfrm>
            <a:off x="6080759" y="1371600"/>
            <a:ext cx="2697481" cy="9144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5"/>
          <p:cNvSpPr txBox="1"/>
          <p:nvPr/>
        </p:nvSpPr>
        <p:spPr>
          <a:xfrm>
            <a:off x="6190488" y="2229357"/>
            <a:ext cx="248716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Result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6190488" y="2560320"/>
            <a:ext cx="2487168" cy="7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Production-grade 61% accuracy after overhauling features from absolute prices to stationary market behavior signals.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46" name="Text 1"/>
          <p:cNvSpPr txBox="1"/>
          <p:nvPr/>
        </p:nvSpPr>
        <p:spPr>
          <a:xfrm>
            <a:off x="411479" y="541019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3-Pipeline Architecture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411479" y="1338511"/>
            <a:ext cx="8321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7B93AC"/>
                </a:solidFill>
              </a:defRPr>
            </a:lvl1pPr>
          </a:lstStyle>
          <a:p>
            <a:pPr/>
            <a:r>
              <a:t>Strict separation of concerns across three independent systems</a:t>
            </a:r>
          </a:p>
        </p:txBody>
      </p:sp>
      <p:sp>
        <p:nvSpPr>
          <p:cNvPr id="48" name="Shape 3"/>
          <p:cNvSpPr/>
          <p:nvPr/>
        </p:nvSpPr>
        <p:spPr>
          <a:xfrm>
            <a:off x="256031" y="1691639"/>
            <a:ext cx="2788922" cy="3154682"/>
          </a:xfrm>
          <a:prstGeom prst="rect">
            <a:avLst/>
          </a:prstGeom>
          <a:solidFill>
            <a:srgbClr val="112038"/>
          </a:solidFill>
          <a:ln w="19050">
            <a:solidFill>
              <a:srgbClr val="00C9A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Shape 4"/>
          <p:cNvSpPr/>
          <p:nvPr/>
        </p:nvSpPr>
        <p:spPr>
          <a:xfrm>
            <a:off x="256031" y="1691639"/>
            <a:ext cx="2788922" cy="54864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5"/>
          <p:cNvSpPr txBox="1"/>
          <p:nvPr/>
        </p:nvSpPr>
        <p:spPr>
          <a:xfrm>
            <a:off x="365760" y="1756410"/>
            <a:ext cx="257860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60E1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NLP PIPELINE</a:t>
            </a:r>
          </a:p>
        </p:txBody>
      </p:sp>
      <p:sp>
        <p:nvSpPr>
          <p:cNvPr id="51" name="Text 6"/>
          <p:cNvSpPr txBox="1"/>
          <p:nvPr/>
        </p:nvSpPr>
        <p:spPr>
          <a:xfrm>
            <a:off x="365760" y="2039156"/>
            <a:ext cx="257860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060E1A"/>
                </a:solidFill>
              </a:defRPr>
            </a:lvl1pPr>
          </a:lstStyle>
          <a:p>
            <a:pPr/>
            <a:r>
              <a:t>The Sensors</a:t>
            </a:r>
          </a:p>
        </p:txBody>
      </p:sp>
      <p:sp>
        <p:nvSpPr>
          <p:cNvPr id="52" name="Text 7"/>
          <p:cNvSpPr txBox="1"/>
          <p:nvPr/>
        </p:nvSpPr>
        <p:spPr>
          <a:xfrm>
            <a:off x="393191" y="2377439"/>
            <a:ext cx="2514601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Processes 100k+ historical tweets · VADER sentiment engine · Live RSS news scraper · Outputs daily sentiment vector (–1 to +1)</a:t>
            </a:r>
          </a:p>
        </p:txBody>
      </p:sp>
      <p:sp>
        <p:nvSpPr>
          <p:cNvPr id="53" name="Shape 8"/>
          <p:cNvSpPr/>
          <p:nvPr/>
        </p:nvSpPr>
        <p:spPr>
          <a:xfrm>
            <a:off x="3044951" y="3154679"/>
            <a:ext cx="118872" cy="13716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9"/>
          <p:cNvSpPr/>
          <p:nvPr/>
        </p:nvSpPr>
        <p:spPr>
          <a:xfrm>
            <a:off x="3163823" y="1691639"/>
            <a:ext cx="2788922" cy="3154682"/>
          </a:xfrm>
          <a:prstGeom prst="rect">
            <a:avLst/>
          </a:prstGeom>
          <a:solidFill>
            <a:srgbClr val="112038"/>
          </a:solidFill>
          <a:ln w="19050">
            <a:solidFill>
              <a:srgbClr val="F7B731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10"/>
          <p:cNvSpPr/>
          <p:nvPr/>
        </p:nvSpPr>
        <p:spPr>
          <a:xfrm>
            <a:off x="3163823" y="1691639"/>
            <a:ext cx="2788922" cy="54864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1"/>
          <p:cNvSpPr txBox="1"/>
          <p:nvPr/>
        </p:nvSpPr>
        <p:spPr>
          <a:xfrm>
            <a:off x="3273552" y="1756410"/>
            <a:ext cx="257860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60E1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ML PIPELINE</a:t>
            </a:r>
          </a:p>
        </p:txBody>
      </p:sp>
      <p:sp>
        <p:nvSpPr>
          <p:cNvPr id="57" name="Text 12"/>
          <p:cNvSpPr txBox="1"/>
          <p:nvPr/>
        </p:nvSpPr>
        <p:spPr>
          <a:xfrm>
            <a:off x="3273552" y="2039156"/>
            <a:ext cx="257860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060E1A"/>
                </a:solidFill>
              </a:defRPr>
            </a:lvl1pPr>
          </a:lstStyle>
          <a:p>
            <a:pPr/>
            <a:r>
              <a:t>The Brain</a:t>
            </a:r>
          </a:p>
        </p:txBody>
      </p:sp>
      <p:sp>
        <p:nvSpPr>
          <p:cNvPr id="58" name="Text 13"/>
          <p:cNvSpPr txBox="1"/>
          <p:nvPr/>
        </p:nvSpPr>
        <p:spPr>
          <a:xfrm>
            <a:off x="3300984" y="2377439"/>
            <a:ext cx="2514601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XGBoost binary classifier · Stationary feature engineering · TimeSeriesSplit cross-validation · predict_proba confidence score</a:t>
            </a:r>
          </a:p>
        </p:txBody>
      </p:sp>
      <p:sp>
        <p:nvSpPr>
          <p:cNvPr id="59" name="Shape 14"/>
          <p:cNvSpPr/>
          <p:nvPr/>
        </p:nvSpPr>
        <p:spPr>
          <a:xfrm>
            <a:off x="5952744" y="3154679"/>
            <a:ext cx="118872" cy="13716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hape 15"/>
          <p:cNvSpPr/>
          <p:nvPr/>
        </p:nvSpPr>
        <p:spPr>
          <a:xfrm>
            <a:off x="6071615" y="1691639"/>
            <a:ext cx="2788921" cy="3154682"/>
          </a:xfrm>
          <a:prstGeom prst="rect">
            <a:avLst/>
          </a:prstGeom>
          <a:solidFill>
            <a:srgbClr val="112038"/>
          </a:solidFill>
          <a:ln w="19050">
            <a:solidFill>
              <a:srgbClr val="E040FB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16"/>
          <p:cNvSpPr/>
          <p:nvPr/>
        </p:nvSpPr>
        <p:spPr>
          <a:xfrm>
            <a:off x="6071615" y="1691639"/>
            <a:ext cx="2788921" cy="548641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7"/>
          <p:cNvSpPr txBox="1"/>
          <p:nvPr/>
        </p:nvSpPr>
        <p:spPr>
          <a:xfrm>
            <a:off x="6181344" y="1756410"/>
            <a:ext cx="257860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60E1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63" name="Text 18"/>
          <p:cNvSpPr txBox="1"/>
          <p:nvPr/>
        </p:nvSpPr>
        <p:spPr>
          <a:xfrm>
            <a:off x="6181344" y="2039156"/>
            <a:ext cx="257860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060E1A"/>
                </a:solidFill>
              </a:defRPr>
            </a:lvl1pPr>
          </a:lstStyle>
          <a:p>
            <a:pPr/>
            <a:r>
              <a:t>The Bridge</a:t>
            </a:r>
          </a:p>
        </p:txBody>
      </p:sp>
      <p:sp>
        <p:nvSpPr>
          <p:cNvPr id="64" name="Text 19"/>
          <p:cNvSpPr txBox="1"/>
          <p:nvPr/>
        </p:nvSpPr>
        <p:spPr>
          <a:xfrm>
            <a:off x="6208776" y="2377439"/>
            <a:ext cx="2514601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Streamlit dashboard · Binance live price API · Yahoo Finance historical data · TTL caching hierarchy · User-controlled forecast button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"/>
          <p:cNvSpPr txBox="1"/>
          <p:nvPr/>
        </p:nvSpPr>
        <p:spPr>
          <a:xfrm>
            <a:off x="457200" y="141096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600" sz="1400">
                <a:solidFill>
                  <a:srgbClr val="00C9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68" name="Text 2"/>
          <p:cNvSpPr txBox="1"/>
          <p:nvPr/>
        </p:nvSpPr>
        <p:spPr>
          <a:xfrm>
            <a:off x="457200" y="1833879"/>
            <a:ext cx="8229600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Data Engineering</a:t>
            </a:r>
          </a:p>
          <a:p>
            <a:pPr>
              <a:defRPr sz="4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&amp; NLP Pipeline</a:t>
            </a:r>
          </a:p>
        </p:txBody>
      </p:sp>
      <p:sp>
        <p:nvSpPr>
          <p:cNvPr id="69" name="Text 3"/>
          <p:cNvSpPr txBox="1"/>
          <p:nvPr/>
        </p:nvSpPr>
        <p:spPr>
          <a:xfrm>
            <a:off x="457200" y="3781623"/>
            <a:ext cx="82296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EAF0F6"/>
                </a:solidFill>
              </a:defRPr>
            </a:lvl1pPr>
          </a:lstStyle>
          <a:p>
            <a:pPr/>
            <a:r>
              <a:t>Translating human emotion into mathematical vectors</a:t>
            </a:r>
          </a:p>
        </p:txBody>
      </p:sp>
      <p:sp>
        <p:nvSpPr>
          <p:cNvPr id="70" name="Shape 4"/>
          <p:cNvSpPr/>
          <p:nvPr/>
        </p:nvSpPr>
        <p:spPr>
          <a:xfrm>
            <a:off x="457200" y="1143000"/>
            <a:ext cx="1097281" cy="640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1 · NLP PIPELINE</a:t>
            </a:r>
          </a:p>
        </p:txBody>
      </p:sp>
      <p:sp>
        <p:nvSpPr>
          <p:cNvPr id="73" name="Text 1"/>
          <p:cNvSpPr txBox="1"/>
          <p:nvPr/>
        </p:nvSpPr>
        <p:spPr>
          <a:xfrm>
            <a:off x="411479" y="504824"/>
            <a:ext cx="83210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60E1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Sentiment Engine: VADER</a:t>
            </a:r>
          </a:p>
        </p:txBody>
      </p:sp>
      <p:sp>
        <p:nvSpPr>
          <p:cNvPr id="74" name="Shape 2"/>
          <p:cNvSpPr/>
          <p:nvPr/>
        </p:nvSpPr>
        <p:spPr>
          <a:xfrm>
            <a:off x="320040" y="1234439"/>
            <a:ext cx="4069080" cy="3520442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3"/>
          <p:cNvSpPr/>
          <p:nvPr/>
        </p:nvSpPr>
        <p:spPr>
          <a:xfrm>
            <a:off x="320040" y="1234439"/>
            <a:ext cx="4069080" cy="7315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4"/>
          <p:cNvSpPr txBox="1"/>
          <p:nvPr/>
        </p:nvSpPr>
        <p:spPr>
          <a:xfrm>
            <a:off x="411480" y="1413555"/>
            <a:ext cx="3886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OUR CHOICE</a:t>
            </a:r>
          </a:p>
        </p:txBody>
      </p:sp>
      <p:sp>
        <p:nvSpPr>
          <p:cNvPr id="77" name="Text 5"/>
          <p:cNvSpPr txBox="1"/>
          <p:nvPr/>
        </p:nvSpPr>
        <p:spPr>
          <a:xfrm>
            <a:off x="411480" y="1673097"/>
            <a:ext cx="384048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vaderSentiment</a:t>
            </a:r>
          </a:p>
        </p:txBody>
      </p:sp>
      <p:sp>
        <p:nvSpPr>
          <p:cNvPr id="78" name="Text 6"/>
          <p:cNvSpPr txBox="1"/>
          <p:nvPr/>
        </p:nvSpPr>
        <p:spPr>
          <a:xfrm>
            <a:off x="411480" y="2176272"/>
            <a:ext cx="3840480" cy="1109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EAF0F6"/>
                </a:solidFill>
              </a:defRPr>
            </a:pPr>
            <a:r>
              <a:t>• Lightweight rule-based lexicon — no GPU required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Custom Crypto Lexicon injected:</a:t>
            </a:r>
          </a:p>
          <a:p>
            <a:pPr>
              <a:defRPr i="1" sz="1200">
                <a:solidFill>
                  <a:srgbClr val="F7B731"/>
                </a:solidFill>
              </a:defRPr>
            </a:pPr>
            <a:r>
              <a:t>    "HODL": 2.0 · "bullish": 2.5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Understands niche crypto internet slang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Outputs clean –1 to +1 sentiment score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Trains in milliseconds on CPU</a:t>
            </a:r>
          </a:p>
        </p:txBody>
      </p:sp>
      <p:sp>
        <p:nvSpPr>
          <p:cNvPr id="79" name="Shape 7"/>
          <p:cNvSpPr/>
          <p:nvPr/>
        </p:nvSpPr>
        <p:spPr>
          <a:xfrm>
            <a:off x="4663440" y="1234439"/>
            <a:ext cx="4160521" cy="3520442"/>
          </a:xfrm>
          <a:prstGeom prst="rect">
            <a:avLst/>
          </a:prstGeom>
          <a:solidFill>
            <a:srgbClr val="1A2435"/>
          </a:solidFill>
          <a:ln w="12700">
            <a:solidFill>
              <a:srgbClr val="1A2435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Shape 8"/>
          <p:cNvSpPr/>
          <p:nvPr/>
        </p:nvSpPr>
        <p:spPr>
          <a:xfrm>
            <a:off x="4663440" y="1234439"/>
            <a:ext cx="4160521" cy="73153"/>
          </a:xfrm>
          <a:prstGeom prst="rect">
            <a:avLst/>
          </a:prstGeom>
          <a:solidFill>
            <a:srgbClr val="7B93AC"/>
          </a:solidFill>
          <a:ln w="12700">
            <a:solidFill>
              <a:srgbClr val="7B93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9"/>
          <p:cNvSpPr txBox="1"/>
          <p:nvPr/>
        </p:nvSpPr>
        <p:spPr>
          <a:xfrm>
            <a:off x="4754879" y="1413555"/>
            <a:ext cx="3886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7B93A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ALTERNATIVE</a:t>
            </a:r>
          </a:p>
        </p:txBody>
      </p:sp>
      <p:sp>
        <p:nvSpPr>
          <p:cNvPr id="82" name="Text 10"/>
          <p:cNvSpPr txBox="1"/>
          <p:nvPr/>
        </p:nvSpPr>
        <p:spPr>
          <a:xfrm>
            <a:off x="4754879" y="1673097"/>
            <a:ext cx="393192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EAF0F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FinBERT / RoBERTa</a:t>
            </a:r>
          </a:p>
        </p:txBody>
      </p:sp>
      <p:sp>
        <p:nvSpPr>
          <p:cNvPr id="83" name="Text 11"/>
          <p:cNvSpPr txBox="1"/>
          <p:nvPr/>
        </p:nvSpPr>
        <p:spPr>
          <a:xfrm>
            <a:off x="4754879" y="2176272"/>
            <a:ext cx="3886201" cy="91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7B93AC"/>
                </a:solidFill>
              </a:defRPr>
            </a:pPr>
            <a:r>
              <a:t>• Computationally heavy — requires GPU for fast inference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Black-box model — no interpretability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Cannot inject domain-specific vocabulary</a:t>
            </a:r>
          </a:p>
          <a:p>
            <a:pPr>
              <a:defRPr i="1" sz="1200">
                <a:solidFill>
                  <a:srgbClr val="7B93AC"/>
                </a:solidFill>
              </a:defRPr>
            </a:pPr>
            <a:r>
              <a:t>• Fails on crypto slang: HODL, NGMI, WAGMI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Overkill for this use case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1 · NLP PIPELINE</a:t>
            </a:r>
          </a:p>
        </p:txBody>
      </p:sp>
      <p:sp>
        <p:nvSpPr>
          <p:cNvPr id="86" name="Text 1"/>
          <p:cNvSpPr txBox="1"/>
          <p:nvPr/>
        </p:nvSpPr>
        <p:spPr>
          <a:xfrm>
            <a:off x="411479" y="236219"/>
            <a:ext cx="8321042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Live Scraper: RSS Feeds vs. HTML Scraping</a:t>
            </a:r>
          </a:p>
        </p:txBody>
      </p:sp>
      <p:graphicFrame>
        <p:nvGraphicFramePr>
          <p:cNvPr id="87" name="Table 0"/>
          <p:cNvGraphicFramePr/>
          <p:nvPr/>
        </p:nvGraphicFramePr>
        <p:xfrm>
          <a:off x="320040" y="1617336"/>
          <a:ext cx="8686801" cy="301752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86000"/>
                <a:gridCol w="3200400"/>
                <a:gridCol w="320040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060E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Criterion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060E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RSS Feeds (Our Choice 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060E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BeautifulSoup / Selenium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0C9A7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B93AC"/>
                          </a:solidFill>
                        </a:rPr>
                        <a:t>Fragility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AF0F6"/>
                          </a:solidFill>
                        </a:rPr>
                        <a:t>Immutable XML — never breaks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7B93AC"/>
                          </a:solidFill>
                        </a:rPr>
                        <a:t>Breaks on any CSS class change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B93AC"/>
                          </a:solidFill>
                        </a:rPr>
                        <a:t>Bot Detection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AF0F6"/>
                          </a:solidFill>
                        </a:rPr>
                        <a:t>Designed for machine-to-machine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7B93AC"/>
                          </a:solidFill>
                        </a:rPr>
                        <a:t>Blocked by Cloudflare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2A44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B93AC"/>
                          </a:solidFill>
                        </a:rPr>
                        <a:t>Data Quality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AF0F6"/>
                          </a:solidFill>
                        </a:rPr>
                        <a:t>Clean, structured XML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7B93AC"/>
                          </a:solidFill>
                        </a:rPr>
                        <a:t>Requires heavy parsing/cleanup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B93AC"/>
                          </a:solidFill>
                        </a:rPr>
                        <a:t>Reliability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AF0F6"/>
                          </a:solidFill>
                        </a:rPr>
                        <a:t>Guaranteed uptime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7B93AC"/>
                          </a:solidFill>
                        </a:rPr>
                        <a:t>UI-dependent, unpredictable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2A44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B93AC"/>
                          </a:solidFill>
                        </a:rPr>
                        <a:t>Sources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AF0F6"/>
                          </a:solidFill>
                        </a:rPr>
                        <a:t>CoinDesk · Cointelegraph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7B93AC"/>
                          </a:solidFill>
                        </a:rPr>
                        <a:t>Any site (if not blocked)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0D2B4A"/>
                      </a:solidFill>
                    </a:lnL>
                    <a:lnR w="6350">
                      <a:solidFill>
                        <a:srgbClr val="0D2B4A"/>
                      </a:solidFill>
                    </a:lnR>
                    <a:lnT w="6350">
                      <a:solidFill>
                        <a:srgbClr val="0D2B4A"/>
                      </a:solidFill>
                    </a:lnT>
                    <a:lnB w="6350">
                      <a:solidFill>
                        <a:srgbClr val="0D2B4A"/>
                      </a:solidFill>
                    </a:lnB>
                    <a:solidFill>
                      <a:srgbClr val="0A32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B731">
              <a:alpha val="8000"/>
            </a:srgbClr>
          </a:solidFill>
          <a:ln w="12700">
            <a:solidFill>
              <a:srgbClr val="F7B731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1"/>
          <p:cNvSpPr/>
          <p:nvPr/>
        </p:nvSpPr>
        <p:spPr>
          <a:xfrm>
            <a:off x="457200" y="1143000"/>
            <a:ext cx="1097281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2"/>
          <p:cNvSpPr txBox="1"/>
          <p:nvPr/>
        </p:nvSpPr>
        <p:spPr>
          <a:xfrm>
            <a:off x="457200" y="141096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600" sz="14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92" name="Text 3"/>
          <p:cNvSpPr txBox="1"/>
          <p:nvPr/>
        </p:nvSpPr>
        <p:spPr>
          <a:xfrm>
            <a:off x="457200" y="1948179"/>
            <a:ext cx="8229600" cy="149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Machine Learning</a:t>
            </a:r>
          </a:p>
          <a:p>
            <a:pPr>
              <a:defRPr sz="4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&amp; Feature Engineering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457200" y="3781623"/>
            <a:ext cx="82296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EAF0F6"/>
                </a:solidFill>
              </a:defRPr>
            </a:lvl1pPr>
          </a:lstStyle>
          <a:p>
            <a:pPr/>
            <a:r>
              <a:t>Building a binary classification brain for market direction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2 · MACHINE LEARNING</a:t>
            </a:r>
          </a:p>
        </p:txBody>
      </p:sp>
      <p:sp>
        <p:nvSpPr>
          <p:cNvPr id="96" name="Text 1"/>
          <p:cNvSpPr txBox="1"/>
          <p:nvPr/>
        </p:nvSpPr>
        <p:spPr>
          <a:xfrm>
            <a:off x="411479" y="513080"/>
            <a:ext cx="832104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060E1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Algorithm Choice: XGBoost</a:t>
            </a:r>
          </a:p>
        </p:txBody>
      </p:sp>
      <p:sp>
        <p:nvSpPr>
          <p:cNvPr id="97" name="Shape 2"/>
          <p:cNvSpPr/>
          <p:nvPr/>
        </p:nvSpPr>
        <p:spPr>
          <a:xfrm>
            <a:off x="320040" y="1234439"/>
            <a:ext cx="4069080" cy="3520442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Shape 3"/>
          <p:cNvSpPr/>
          <p:nvPr/>
        </p:nvSpPr>
        <p:spPr>
          <a:xfrm>
            <a:off x="320040" y="1234439"/>
            <a:ext cx="4069080" cy="7315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4"/>
          <p:cNvSpPr txBox="1"/>
          <p:nvPr/>
        </p:nvSpPr>
        <p:spPr>
          <a:xfrm>
            <a:off x="411480" y="1399839"/>
            <a:ext cx="38404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7B73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OUR CHOICE</a:t>
            </a:r>
          </a:p>
        </p:txBody>
      </p:sp>
      <p:sp>
        <p:nvSpPr>
          <p:cNvPr id="100" name="Text 5"/>
          <p:cNvSpPr txBox="1"/>
          <p:nvPr/>
        </p:nvSpPr>
        <p:spPr>
          <a:xfrm>
            <a:off x="411480" y="1654810"/>
            <a:ext cx="384048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XGBClassifier</a:t>
            </a:r>
          </a:p>
        </p:txBody>
      </p:sp>
      <p:sp>
        <p:nvSpPr>
          <p:cNvPr id="101" name="Text 6"/>
          <p:cNvSpPr txBox="1"/>
          <p:nvPr/>
        </p:nvSpPr>
        <p:spPr>
          <a:xfrm>
            <a:off x="411480" y="2143559"/>
            <a:ext cx="38404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F7B731"/>
                </a:solidFill>
              </a:defRPr>
            </a:lvl1pPr>
          </a:lstStyle>
          <a:p>
            <a:pPr/>
            <a:r>
              <a:t>Extreme Gradient Boosting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411480" y="2423160"/>
            <a:ext cx="3840480" cy="1109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EAF0F6"/>
                </a:solidFill>
              </a:defRPr>
            </a:pPr>
            <a:r>
              <a:t>• Ensemble of decision trees — inherently interpretable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Highly resistant to outliers in noisy financial data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Trains in seconds on CPU — no GPU needed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predict_proba outputs confidence score for risk management</a:t>
            </a:r>
          </a:p>
          <a:p>
            <a:pPr>
              <a:defRPr sz="1200">
                <a:solidFill>
                  <a:srgbClr val="EAF0F6"/>
                </a:solidFill>
              </a:defRPr>
            </a:pPr>
            <a:r>
              <a:t>• Ideal for low-dimensional tabular financial datasets</a:t>
            </a:r>
          </a:p>
        </p:txBody>
      </p:sp>
      <p:sp>
        <p:nvSpPr>
          <p:cNvPr id="103" name="Shape 8"/>
          <p:cNvSpPr/>
          <p:nvPr/>
        </p:nvSpPr>
        <p:spPr>
          <a:xfrm>
            <a:off x="4663440" y="1234439"/>
            <a:ext cx="4160521" cy="3520442"/>
          </a:xfrm>
          <a:prstGeom prst="rect">
            <a:avLst/>
          </a:prstGeom>
          <a:solidFill>
            <a:srgbClr val="1A2435"/>
          </a:solidFill>
          <a:ln w="12700">
            <a:solidFill>
              <a:srgbClr val="1A2435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Shape 9"/>
          <p:cNvSpPr/>
          <p:nvPr/>
        </p:nvSpPr>
        <p:spPr>
          <a:xfrm>
            <a:off x="4663440" y="1234439"/>
            <a:ext cx="4160521" cy="73153"/>
          </a:xfrm>
          <a:prstGeom prst="rect">
            <a:avLst/>
          </a:prstGeom>
          <a:solidFill>
            <a:srgbClr val="7B93AC"/>
          </a:solidFill>
          <a:ln w="12700">
            <a:solidFill>
              <a:srgbClr val="7B93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0"/>
          <p:cNvSpPr txBox="1"/>
          <p:nvPr/>
        </p:nvSpPr>
        <p:spPr>
          <a:xfrm>
            <a:off x="4754879" y="1399839"/>
            <a:ext cx="384048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7B93A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ALTERNATIVE</a:t>
            </a:r>
          </a:p>
        </p:txBody>
      </p:sp>
      <p:sp>
        <p:nvSpPr>
          <p:cNvPr id="106" name="Text 11"/>
          <p:cNvSpPr txBox="1"/>
          <p:nvPr/>
        </p:nvSpPr>
        <p:spPr>
          <a:xfrm>
            <a:off x="4754879" y="1654810"/>
            <a:ext cx="384048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EAF0F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LSTMs / RNNs</a:t>
            </a:r>
          </a:p>
        </p:txBody>
      </p:sp>
      <p:sp>
        <p:nvSpPr>
          <p:cNvPr id="107" name="Text 12"/>
          <p:cNvSpPr txBox="1"/>
          <p:nvPr/>
        </p:nvSpPr>
        <p:spPr>
          <a:xfrm>
            <a:off x="4754879" y="2143559"/>
            <a:ext cx="38404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Time-series Deep Learning</a:t>
            </a:r>
          </a:p>
        </p:txBody>
      </p:sp>
      <p:sp>
        <p:nvSpPr>
          <p:cNvPr id="108" name="Text 13"/>
          <p:cNvSpPr txBox="1"/>
          <p:nvPr/>
        </p:nvSpPr>
        <p:spPr>
          <a:xfrm>
            <a:off x="4754879" y="2423160"/>
            <a:ext cx="3886201" cy="91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7B93AC"/>
                </a:solidFill>
              </a:defRPr>
            </a:pPr>
            <a:r>
              <a:t>• Notorious for overfitting on low-dimensional noisy data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Requires large datasets &amp; GPU resources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Black-box — no interpretability or confidence score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Sluggish to retrain as market conditions evolve</a:t>
            </a:r>
          </a:p>
          <a:p>
            <a:pPr>
              <a:defRPr sz="1200">
                <a:solidFill>
                  <a:srgbClr val="7B93AC"/>
                </a:solidFill>
              </a:defRPr>
            </a:pPr>
            <a:r>
              <a:t>• Overkill for this feature 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2 · FEATURE ENGINEERING</a:t>
            </a:r>
          </a:p>
        </p:txBody>
      </p:sp>
      <p:sp>
        <p:nvSpPr>
          <p:cNvPr id="111" name="Text 1"/>
          <p:cNvSpPr txBox="1"/>
          <p:nvPr/>
        </p:nvSpPr>
        <p:spPr>
          <a:xfrm>
            <a:off x="411479" y="541019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Accuracy Crisis</a:t>
            </a:r>
          </a:p>
        </p:txBody>
      </p:sp>
      <p:sp>
        <p:nvSpPr>
          <p:cNvPr id="112" name="Shape 2"/>
          <p:cNvSpPr/>
          <p:nvPr/>
        </p:nvSpPr>
        <p:spPr>
          <a:xfrm>
            <a:off x="320039" y="1188719"/>
            <a:ext cx="4023361" cy="3611881"/>
          </a:xfrm>
          <a:prstGeom prst="rect">
            <a:avLst/>
          </a:prstGeom>
          <a:solidFill>
            <a:srgbClr val="3D0000"/>
          </a:solidFill>
          <a:ln w="12700">
            <a:solidFill>
              <a:srgbClr val="FF4444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Text 3"/>
          <p:cNvSpPr txBox="1"/>
          <p:nvPr/>
        </p:nvSpPr>
        <p:spPr>
          <a:xfrm>
            <a:off x="457199" y="1349547"/>
            <a:ext cx="374904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FF666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BEFORE</a:t>
            </a:r>
          </a:p>
        </p:txBody>
      </p:sp>
      <p:sp>
        <p:nvSpPr>
          <p:cNvPr id="114" name="Text 4"/>
          <p:cNvSpPr txBox="1"/>
          <p:nvPr/>
        </p:nvSpPr>
        <p:spPr>
          <a:xfrm>
            <a:off x="457199" y="1510029"/>
            <a:ext cx="3749042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600">
                <a:solidFill>
                  <a:srgbClr val="FF4444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30.95%</a:t>
            </a:r>
          </a:p>
        </p:txBody>
      </p:sp>
      <p:sp>
        <p:nvSpPr>
          <p:cNvPr id="115" name="Text 5"/>
          <p:cNvSpPr txBox="1"/>
          <p:nvPr/>
        </p:nvSpPr>
        <p:spPr>
          <a:xfrm>
            <a:off x="457199" y="2515932"/>
            <a:ext cx="37490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F6666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116" name="Text 6"/>
          <p:cNvSpPr txBox="1"/>
          <p:nvPr/>
        </p:nvSpPr>
        <p:spPr>
          <a:xfrm>
            <a:off x="457199" y="2852927"/>
            <a:ext cx="3749042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AAAA"/>
                </a:solidFill>
              </a:defRPr>
            </a:pPr>
            <a:r>
              <a:t>Root Cause: Absolute Features</a:t>
            </a:r>
          </a:p>
          <a:p>
            <a:pPr>
              <a:defRPr sz="1200">
                <a:solidFill>
                  <a:srgbClr val="FFAAAA"/>
                </a:solidFill>
              </a:defRPr>
            </a:pPr>
            <a:r>
              <a:t>Model fed raw dollar prices ($40,000)</a:t>
            </a:r>
          </a:p>
          <a:p>
            <a:pPr>
              <a:defRPr sz="1200">
                <a:solidFill>
                  <a:srgbClr val="FFAAAA"/>
                </a:solidFill>
              </a:defRPr>
            </a:pPr>
            <a:r>
              <a:t>ML cannot extrapolate prices never seen before</a:t>
            </a:r>
          </a:p>
          <a:p>
            <a:pPr>
              <a:defRPr sz="1200">
                <a:solidFill>
                  <a:srgbClr val="FFAAAA"/>
                </a:solidFill>
              </a:defRPr>
            </a:pPr>
            <a:r>
              <a:t>Trained at $40k → panics at $70k bull run</a:t>
            </a:r>
          </a:p>
        </p:txBody>
      </p:sp>
      <p:sp>
        <p:nvSpPr>
          <p:cNvPr id="117" name="Text 7"/>
          <p:cNvSpPr txBox="1"/>
          <p:nvPr/>
        </p:nvSpPr>
        <p:spPr>
          <a:xfrm>
            <a:off x="4343400" y="2534920"/>
            <a:ext cx="4572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8" name="Shape 8"/>
          <p:cNvSpPr/>
          <p:nvPr/>
        </p:nvSpPr>
        <p:spPr>
          <a:xfrm>
            <a:off x="4800600" y="1188719"/>
            <a:ext cx="4023360" cy="3611881"/>
          </a:xfrm>
          <a:prstGeom prst="rect">
            <a:avLst/>
          </a:prstGeom>
          <a:solidFill>
            <a:srgbClr val="002B1A"/>
          </a:solidFill>
          <a:ln w="12700">
            <a:solidFill>
              <a:srgbClr val="00C9A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Text 9"/>
          <p:cNvSpPr txBox="1"/>
          <p:nvPr/>
        </p:nvSpPr>
        <p:spPr>
          <a:xfrm>
            <a:off x="4937759" y="1349547"/>
            <a:ext cx="37490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AFTER</a:t>
            </a:r>
          </a:p>
        </p:txBody>
      </p:sp>
      <p:sp>
        <p:nvSpPr>
          <p:cNvPr id="120" name="Text 10"/>
          <p:cNvSpPr txBox="1"/>
          <p:nvPr/>
        </p:nvSpPr>
        <p:spPr>
          <a:xfrm>
            <a:off x="4937759" y="1510029"/>
            <a:ext cx="3749041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600">
                <a:solidFill>
                  <a:srgbClr val="00C9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61%</a:t>
            </a:r>
          </a:p>
        </p:txBody>
      </p:sp>
      <p:sp>
        <p:nvSpPr>
          <p:cNvPr id="121" name="Text 11"/>
          <p:cNvSpPr txBox="1"/>
          <p:nvPr/>
        </p:nvSpPr>
        <p:spPr>
          <a:xfrm>
            <a:off x="4937759" y="2515932"/>
            <a:ext cx="3749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00C9A7"/>
                </a:solidFill>
              </a:defRPr>
            </a:lvl1pPr>
          </a:lstStyle>
          <a:p>
            <a:pPr/>
            <a:r>
              <a:t>Production-Grade Accuracy</a:t>
            </a:r>
          </a:p>
        </p:txBody>
      </p:sp>
      <p:sp>
        <p:nvSpPr>
          <p:cNvPr id="122" name="Text 12"/>
          <p:cNvSpPr txBox="1"/>
          <p:nvPr/>
        </p:nvSpPr>
        <p:spPr>
          <a:xfrm>
            <a:off x="4937759" y="2852927"/>
            <a:ext cx="3749041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AAFFD6"/>
                </a:solidFill>
              </a:defRPr>
            </a:pPr>
            <a:r>
              <a:t>Fix: Stationary Features</a:t>
            </a:r>
          </a:p>
          <a:p>
            <a:pPr>
              <a:defRPr sz="1200">
                <a:solidFill>
                  <a:srgbClr val="AAFFD6"/>
                </a:solidFill>
              </a:defRPr>
            </a:pPr>
            <a:r>
              <a:t>Distance from SMA7 (Price_to_SMA7)</a:t>
            </a:r>
          </a:p>
          <a:p>
            <a:pPr>
              <a:defRPr sz="1200">
                <a:solidFill>
                  <a:srgbClr val="AAFFD6"/>
                </a:solidFill>
              </a:defRPr>
            </a:pPr>
            <a:r>
              <a:t>7-Day Market Volatility (Volatility_7d)</a:t>
            </a:r>
          </a:p>
          <a:p>
            <a:pPr>
              <a:defRPr sz="1200">
                <a:solidFill>
                  <a:srgbClr val="AAFFD6"/>
                </a:solidFill>
              </a:defRPr>
            </a:pPr>
            <a:r>
              <a:t>Daily % Returns (Daily_Return)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2 · FEATURE ENGINEERING</a:t>
            </a:r>
          </a:p>
        </p:txBody>
      </p:sp>
      <p:sp>
        <p:nvSpPr>
          <p:cNvPr id="125" name="Text 1"/>
          <p:cNvSpPr txBox="1"/>
          <p:nvPr/>
        </p:nvSpPr>
        <p:spPr>
          <a:xfrm>
            <a:off x="411479" y="541019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Stationary Feature Engineering</a:t>
            </a:r>
          </a:p>
        </p:txBody>
      </p:sp>
      <p:sp>
        <p:nvSpPr>
          <p:cNvPr id="126" name="Text 2"/>
          <p:cNvSpPr txBox="1"/>
          <p:nvPr/>
        </p:nvSpPr>
        <p:spPr>
          <a:xfrm>
            <a:off x="411479" y="1315651"/>
            <a:ext cx="83210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7B93AC"/>
                </a:solidFill>
              </a:defRPr>
            </a:lvl1pPr>
          </a:lstStyle>
          <a:p>
            <a:pPr/>
            <a:r>
              <a:t>The model learns market behaviour — not historical price ceilings</a:t>
            </a:r>
          </a:p>
        </p:txBody>
      </p:sp>
      <p:sp>
        <p:nvSpPr>
          <p:cNvPr id="127" name="Shape 3"/>
          <p:cNvSpPr/>
          <p:nvPr/>
        </p:nvSpPr>
        <p:spPr>
          <a:xfrm>
            <a:off x="320040" y="1664207"/>
            <a:ext cx="8503920" cy="713233"/>
          </a:xfrm>
          <a:prstGeom prst="rect">
            <a:avLst/>
          </a:prstGeom>
          <a:solidFill>
            <a:srgbClr val="0A3260"/>
          </a:solidFill>
          <a:ln w="12700">
            <a:solidFill>
              <a:srgbClr val="0D3355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" name="Shape 4"/>
          <p:cNvSpPr/>
          <p:nvPr/>
        </p:nvSpPr>
        <p:spPr>
          <a:xfrm>
            <a:off x="320040" y="1664207"/>
            <a:ext cx="64009" cy="71323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5"/>
          <p:cNvSpPr txBox="1"/>
          <p:nvPr/>
        </p:nvSpPr>
        <p:spPr>
          <a:xfrm>
            <a:off x="502919" y="1778508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Price_to_SMA7</a:t>
            </a:r>
          </a:p>
        </p:txBody>
      </p:sp>
      <p:sp>
        <p:nvSpPr>
          <p:cNvPr id="130" name="Text 6"/>
          <p:cNvSpPr txBox="1"/>
          <p:nvPr/>
        </p:nvSpPr>
        <p:spPr>
          <a:xfrm>
            <a:off x="502919" y="2127426"/>
            <a:ext cx="2286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C9A7"/>
                </a:solidFill>
              </a:defRPr>
            </a:lvl1pPr>
          </a:lstStyle>
          <a:p>
            <a:pPr/>
            <a:r>
              <a:t>Close / SMA(7) − 1</a:t>
            </a:r>
          </a:p>
        </p:txBody>
      </p:sp>
      <p:sp>
        <p:nvSpPr>
          <p:cNvPr id="131" name="Text 7"/>
          <p:cNvSpPr txBox="1"/>
          <p:nvPr/>
        </p:nvSpPr>
        <p:spPr>
          <a:xfrm>
            <a:off x="2926079" y="1844986"/>
            <a:ext cx="576072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Measures how far price deviates from its 7-day average. Works at any price level — $1k or $100k.</a:t>
            </a:r>
          </a:p>
        </p:txBody>
      </p:sp>
      <p:sp>
        <p:nvSpPr>
          <p:cNvPr id="132" name="Shape 8"/>
          <p:cNvSpPr/>
          <p:nvPr/>
        </p:nvSpPr>
        <p:spPr>
          <a:xfrm>
            <a:off x="320040" y="2468879"/>
            <a:ext cx="8503920" cy="713233"/>
          </a:xfrm>
          <a:prstGeom prst="rect">
            <a:avLst/>
          </a:prstGeom>
          <a:solidFill>
            <a:srgbClr val="0A2A44"/>
          </a:solidFill>
          <a:ln w="12700">
            <a:solidFill>
              <a:srgbClr val="0D3355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Shape 9"/>
          <p:cNvSpPr/>
          <p:nvPr/>
        </p:nvSpPr>
        <p:spPr>
          <a:xfrm>
            <a:off x="320040" y="2468879"/>
            <a:ext cx="64009" cy="71323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0"/>
          <p:cNvSpPr txBox="1"/>
          <p:nvPr/>
        </p:nvSpPr>
        <p:spPr>
          <a:xfrm>
            <a:off x="502919" y="2583180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Volatility_7d</a:t>
            </a:r>
          </a:p>
        </p:txBody>
      </p:sp>
      <p:sp>
        <p:nvSpPr>
          <p:cNvPr id="135" name="Text 11"/>
          <p:cNvSpPr txBox="1"/>
          <p:nvPr/>
        </p:nvSpPr>
        <p:spPr>
          <a:xfrm>
            <a:off x="502919" y="2932098"/>
            <a:ext cx="2286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C9A7"/>
                </a:solidFill>
              </a:defRPr>
            </a:lvl1pPr>
          </a:lstStyle>
          <a:p>
            <a:pPr/>
            <a:r>
              <a:t>StdDev(Daily_Return, 7)</a:t>
            </a:r>
          </a:p>
        </p:txBody>
      </p:sp>
      <p:sp>
        <p:nvSpPr>
          <p:cNvPr id="136" name="Text 12"/>
          <p:cNvSpPr txBox="1"/>
          <p:nvPr/>
        </p:nvSpPr>
        <p:spPr>
          <a:xfrm>
            <a:off x="2926079" y="2649659"/>
            <a:ext cx="576072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7-day rolling standard deviation. Captures market nervousness regardless of absolute price.</a:t>
            </a:r>
          </a:p>
        </p:txBody>
      </p:sp>
      <p:sp>
        <p:nvSpPr>
          <p:cNvPr id="137" name="Shape 13"/>
          <p:cNvSpPr/>
          <p:nvPr/>
        </p:nvSpPr>
        <p:spPr>
          <a:xfrm>
            <a:off x="320040" y="3273552"/>
            <a:ext cx="8503920" cy="713233"/>
          </a:xfrm>
          <a:prstGeom prst="rect">
            <a:avLst/>
          </a:prstGeom>
          <a:solidFill>
            <a:srgbClr val="0A3260"/>
          </a:solidFill>
          <a:ln w="12700">
            <a:solidFill>
              <a:srgbClr val="0D3355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Shape 14"/>
          <p:cNvSpPr/>
          <p:nvPr/>
        </p:nvSpPr>
        <p:spPr>
          <a:xfrm>
            <a:off x="320040" y="3273552"/>
            <a:ext cx="64009" cy="71323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15"/>
          <p:cNvSpPr txBox="1"/>
          <p:nvPr/>
        </p:nvSpPr>
        <p:spPr>
          <a:xfrm>
            <a:off x="502919" y="3387851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Daily_Return</a:t>
            </a:r>
          </a:p>
        </p:txBody>
      </p:sp>
      <p:sp>
        <p:nvSpPr>
          <p:cNvPr id="140" name="Text 16"/>
          <p:cNvSpPr txBox="1"/>
          <p:nvPr/>
        </p:nvSpPr>
        <p:spPr>
          <a:xfrm>
            <a:off x="502919" y="3736769"/>
            <a:ext cx="22860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C9A7"/>
                </a:solidFill>
              </a:defRPr>
            </a:lvl1pPr>
          </a:lstStyle>
          <a:p>
            <a:pPr/>
            <a:r>
              <a:t>(Close − Prev_Close) / Prev_Close</a:t>
            </a:r>
          </a:p>
        </p:txBody>
      </p:sp>
      <p:sp>
        <p:nvSpPr>
          <p:cNvPr id="141" name="Text 17"/>
          <p:cNvSpPr txBox="1"/>
          <p:nvPr/>
        </p:nvSpPr>
        <p:spPr>
          <a:xfrm>
            <a:off x="2926079" y="3454331"/>
            <a:ext cx="576072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Percentage change. Stationary by definition — scales uniformly across all market regimes.</a:t>
            </a:r>
          </a:p>
        </p:txBody>
      </p:sp>
      <p:sp>
        <p:nvSpPr>
          <p:cNvPr id="142" name="Shape 18"/>
          <p:cNvSpPr/>
          <p:nvPr/>
        </p:nvSpPr>
        <p:spPr>
          <a:xfrm>
            <a:off x="320040" y="4078223"/>
            <a:ext cx="8503920" cy="713233"/>
          </a:xfrm>
          <a:prstGeom prst="rect">
            <a:avLst/>
          </a:prstGeom>
          <a:solidFill>
            <a:srgbClr val="0A2A44"/>
          </a:solidFill>
          <a:ln w="12700">
            <a:solidFill>
              <a:srgbClr val="0D3355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Shape 19"/>
          <p:cNvSpPr/>
          <p:nvPr/>
        </p:nvSpPr>
        <p:spPr>
          <a:xfrm>
            <a:off x="320040" y="4078223"/>
            <a:ext cx="64009" cy="71323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0"/>
          <p:cNvSpPr txBox="1"/>
          <p:nvPr/>
        </p:nvSpPr>
        <p:spPr>
          <a:xfrm>
            <a:off x="502919" y="4192523"/>
            <a:ext cx="2286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Daily_Sentiment</a:t>
            </a:r>
          </a:p>
        </p:txBody>
      </p:sp>
      <p:sp>
        <p:nvSpPr>
          <p:cNvPr id="145" name="Text 21"/>
          <p:cNvSpPr txBox="1"/>
          <p:nvPr/>
        </p:nvSpPr>
        <p:spPr>
          <a:xfrm>
            <a:off x="502919" y="4541441"/>
            <a:ext cx="22860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C9A7"/>
                </a:solidFill>
              </a:defRPr>
            </a:lvl1pPr>
          </a:lstStyle>
          <a:p>
            <a:pPr/>
            <a:r>
              <a:t>mean(VADER_score)</a:t>
            </a:r>
          </a:p>
        </p:txBody>
      </p:sp>
      <p:sp>
        <p:nvSpPr>
          <p:cNvPr id="146" name="Text 22"/>
          <p:cNvSpPr txBox="1"/>
          <p:nvPr/>
        </p:nvSpPr>
        <p:spPr>
          <a:xfrm>
            <a:off x="2926079" y="4360603"/>
            <a:ext cx="5760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Aggregated NLP output from the tweet/news pipeline. The human emotion signal.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2 · HYPERPARAMETER TUNING</a:t>
            </a:r>
          </a:p>
        </p:txBody>
      </p:sp>
      <p:sp>
        <p:nvSpPr>
          <p:cNvPr id="149" name="Text 1"/>
          <p:cNvSpPr txBox="1"/>
          <p:nvPr/>
        </p:nvSpPr>
        <p:spPr>
          <a:xfrm>
            <a:off x="411479" y="541019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Time Machine Bug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411479" y="1288219"/>
            <a:ext cx="8321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7B93AC"/>
                </a:solidFill>
              </a:defRPr>
            </a:lvl1pPr>
          </a:lstStyle>
          <a:p>
            <a:pPr/>
            <a:r>
              <a:t>How GridSearchCV accidentally let the model see into the future</a:t>
            </a:r>
          </a:p>
        </p:txBody>
      </p:sp>
      <p:sp>
        <p:nvSpPr>
          <p:cNvPr id="151" name="Shape 3"/>
          <p:cNvSpPr/>
          <p:nvPr/>
        </p:nvSpPr>
        <p:spPr>
          <a:xfrm>
            <a:off x="320040" y="1627632"/>
            <a:ext cx="8503920" cy="1005840"/>
          </a:xfrm>
          <a:prstGeom prst="rect">
            <a:avLst/>
          </a:prstGeom>
          <a:solidFill>
            <a:srgbClr val="3D0000"/>
          </a:solidFill>
          <a:ln w="12700">
            <a:solidFill>
              <a:srgbClr val="FF4444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Text 4"/>
          <p:cNvSpPr txBox="1"/>
          <p:nvPr/>
        </p:nvSpPr>
        <p:spPr>
          <a:xfrm>
            <a:off x="457200" y="1776730"/>
            <a:ext cx="237744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4444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53" name="Text 5"/>
          <p:cNvSpPr txBox="1"/>
          <p:nvPr/>
        </p:nvSpPr>
        <p:spPr>
          <a:xfrm>
            <a:off x="2834639" y="1945570"/>
            <a:ext cx="585216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GridSearchCV accuracy dropped after optimization. The opposite of what tuning should do.</a:t>
            </a:r>
          </a:p>
        </p:txBody>
      </p:sp>
      <p:sp>
        <p:nvSpPr>
          <p:cNvPr id="154" name="Shape 6"/>
          <p:cNvSpPr/>
          <p:nvPr/>
        </p:nvSpPr>
        <p:spPr>
          <a:xfrm>
            <a:off x="320040" y="2743200"/>
            <a:ext cx="8503920" cy="1005839"/>
          </a:xfrm>
          <a:prstGeom prst="rect">
            <a:avLst/>
          </a:prstGeom>
          <a:solidFill>
            <a:srgbClr val="2B1A00"/>
          </a:solidFill>
          <a:ln w="12700">
            <a:solidFill>
              <a:srgbClr val="F7B731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Text 7"/>
          <p:cNvSpPr txBox="1"/>
          <p:nvPr/>
        </p:nvSpPr>
        <p:spPr>
          <a:xfrm>
            <a:off x="457200" y="2892298"/>
            <a:ext cx="237744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Diagnosis</a:t>
            </a:r>
          </a:p>
        </p:txBody>
      </p:sp>
      <p:sp>
        <p:nvSpPr>
          <p:cNvPr id="156" name="Text 8"/>
          <p:cNvSpPr txBox="1"/>
          <p:nvPr/>
        </p:nvSpPr>
        <p:spPr>
          <a:xfrm>
            <a:off x="2834639" y="3061138"/>
            <a:ext cx="585216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Standard cross-validation randomly shuffles data. For time-series, this leaked future data into training — the model could peek into 2023 to predict 2022.</a:t>
            </a:r>
          </a:p>
        </p:txBody>
      </p:sp>
      <p:sp>
        <p:nvSpPr>
          <p:cNvPr id="157" name="Shape 9"/>
          <p:cNvSpPr/>
          <p:nvPr/>
        </p:nvSpPr>
        <p:spPr>
          <a:xfrm>
            <a:off x="320040" y="3858767"/>
            <a:ext cx="8503920" cy="1005840"/>
          </a:xfrm>
          <a:prstGeom prst="rect">
            <a:avLst/>
          </a:prstGeom>
          <a:solidFill>
            <a:srgbClr val="002B1A"/>
          </a:solidFill>
          <a:ln w="12700">
            <a:solidFill>
              <a:srgbClr val="00C9A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Text 10"/>
          <p:cNvSpPr txBox="1"/>
          <p:nvPr/>
        </p:nvSpPr>
        <p:spPr>
          <a:xfrm>
            <a:off x="457200" y="4007866"/>
            <a:ext cx="237744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00C9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The Fix</a:t>
            </a:r>
          </a:p>
        </p:txBody>
      </p:sp>
      <p:sp>
        <p:nvSpPr>
          <p:cNvPr id="159" name="Text 11"/>
          <p:cNvSpPr txBox="1"/>
          <p:nvPr/>
        </p:nvSpPr>
        <p:spPr>
          <a:xfrm>
            <a:off x="2834639" y="4176707"/>
            <a:ext cx="585216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Implemented TimeSeriesSplit — strictly chronological folds. Each fold trains only on past data, testing only on future data. Accuracy metrics now reflect absolute reality.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21A8">
              <a:alpha val="10000"/>
            </a:srgbClr>
          </a:solidFill>
          <a:ln w="12700">
            <a:solidFill>
              <a:srgbClr val="6B21A8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1"/>
          <p:cNvSpPr/>
          <p:nvPr/>
        </p:nvSpPr>
        <p:spPr>
          <a:xfrm>
            <a:off x="457200" y="1143000"/>
            <a:ext cx="1097281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"/>
          <p:cNvSpPr txBox="1"/>
          <p:nvPr/>
        </p:nvSpPr>
        <p:spPr>
          <a:xfrm>
            <a:off x="457200" y="141096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600" sz="1400">
                <a:solidFill>
                  <a:srgbClr val="E040F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164" name="Text 3"/>
          <p:cNvSpPr txBox="1"/>
          <p:nvPr/>
        </p:nvSpPr>
        <p:spPr>
          <a:xfrm>
            <a:off x="457200" y="1910079"/>
            <a:ext cx="8229600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Deployment &amp;</a:t>
            </a:r>
          </a:p>
          <a:p>
            <a:pPr>
              <a:defRPr sz="4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Frontend Architecture</a:t>
            </a:r>
          </a:p>
        </p:txBody>
      </p:sp>
      <p:sp>
        <p:nvSpPr>
          <p:cNvPr id="165" name="Text 4"/>
          <p:cNvSpPr txBox="1"/>
          <p:nvPr/>
        </p:nvSpPr>
        <p:spPr>
          <a:xfrm>
            <a:off x="457200" y="379292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EAF0F6"/>
                </a:solidFill>
              </a:defRPr>
            </a:lvl1pPr>
          </a:lstStyle>
          <a:p>
            <a:pPr/>
            <a:r>
              <a:t>Merging live data APIs with the frozen ML model into a user-facing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3 · DEPLOYMENT</a:t>
            </a:r>
          </a:p>
        </p:txBody>
      </p:sp>
      <p:sp>
        <p:nvSpPr>
          <p:cNvPr id="168" name="Text 1"/>
          <p:cNvSpPr txBox="1"/>
          <p:nvPr/>
        </p:nvSpPr>
        <p:spPr>
          <a:xfrm>
            <a:off x="366844" y="512127"/>
            <a:ext cx="841031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Live Integrations: Binance vs. Yahoo Finance</a:t>
            </a:r>
          </a:p>
        </p:txBody>
      </p:sp>
      <p:sp>
        <p:nvSpPr>
          <p:cNvPr id="169" name="Shape 2"/>
          <p:cNvSpPr/>
          <p:nvPr/>
        </p:nvSpPr>
        <p:spPr>
          <a:xfrm>
            <a:off x="320039" y="1188719"/>
            <a:ext cx="4206242" cy="3657601"/>
          </a:xfrm>
          <a:prstGeom prst="rect">
            <a:avLst/>
          </a:prstGeom>
          <a:solidFill>
            <a:srgbClr val="2B1A00"/>
          </a:solidFill>
          <a:ln w="19050">
            <a:solidFill>
              <a:srgbClr val="F7B731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Shape 3"/>
          <p:cNvSpPr/>
          <p:nvPr/>
        </p:nvSpPr>
        <p:spPr>
          <a:xfrm>
            <a:off x="320039" y="1188719"/>
            <a:ext cx="4206242" cy="73153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4"/>
          <p:cNvSpPr txBox="1"/>
          <p:nvPr/>
        </p:nvSpPr>
        <p:spPr>
          <a:xfrm>
            <a:off x="457199" y="1325372"/>
            <a:ext cx="393192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Binance REST API</a:t>
            </a:r>
          </a:p>
        </p:txBody>
      </p:sp>
      <p:sp>
        <p:nvSpPr>
          <p:cNvPr id="172" name="Text 5"/>
          <p:cNvSpPr txBox="1"/>
          <p:nvPr/>
        </p:nvSpPr>
        <p:spPr>
          <a:xfrm>
            <a:off x="457199" y="1789098"/>
            <a:ext cx="39319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B93AC"/>
                </a:solidFill>
              </a:defRPr>
            </a:lvl1pPr>
          </a:lstStyle>
          <a:p>
            <a:pPr/>
            <a:r>
              <a:t>Live Price Feed</a:t>
            </a:r>
          </a:p>
        </p:txBody>
      </p:sp>
      <p:sp>
        <p:nvSpPr>
          <p:cNvPr id="173" name="Text 6"/>
          <p:cNvSpPr txBox="1"/>
          <p:nvPr/>
        </p:nvSpPr>
        <p:spPr>
          <a:xfrm>
            <a:off x="457199" y="2103120"/>
            <a:ext cx="3931922" cy="97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buSzPct val="100000"/>
              <a:buChar char="•"/>
              <a:defRPr sz="1300">
                <a:solidFill>
                  <a:srgbClr val="EAF0F6"/>
                </a:solidFill>
              </a:defRPr>
            </a:pPr>
            <a:r>
              <a:t>Custom requests call to raw ticker endpoint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Millisecond-latency live BTC price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No SDK overhead — direct HTTP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Bypasses Yahoo's 15-min delay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Critical for algorithmic trading precision</a:t>
            </a:r>
          </a:p>
        </p:txBody>
      </p:sp>
      <p:sp>
        <p:nvSpPr>
          <p:cNvPr id="174" name="Shape 7"/>
          <p:cNvSpPr/>
          <p:nvPr/>
        </p:nvSpPr>
        <p:spPr>
          <a:xfrm>
            <a:off x="4800600" y="1188719"/>
            <a:ext cx="4206241" cy="3657601"/>
          </a:xfrm>
          <a:prstGeom prst="rect">
            <a:avLst/>
          </a:prstGeom>
          <a:solidFill>
            <a:srgbClr val="002B1A"/>
          </a:solidFill>
          <a:ln w="19050">
            <a:solidFill>
              <a:srgbClr val="00C9A7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" name="Shape 8"/>
          <p:cNvSpPr/>
          <p:nvPr/>
        </p:nvSpPr>
        <p:spPr>
          <a:xfrm>
            <a:off x="4800600" y="1188719"/>
            <a:ext cx="4206241" cy="7315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9"/>
          <p:cNvSpPr txBox="1"/>
          <p:nvPr/>
        </p:nvSpPr>
        <p:spPr>
          <a:xfrm>
            <a:off x="4937759" y="1325372"/>
            <a:ext cx="393192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00C9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Yahoo Finance</a:t>
            </a:r>
          </a:p>
        </p:txBody>
      </p:sp>
      <p:sp>
        <p:nvSpPr>
          <p:cNvPr id="177" name="Text 10"/>
          <p:cNvSpPr txBox="1"/>
          <p:nvPr/>
        </p:nvSpPr>
        <p:spPr>
          <a:xfrm>
            <a:off x="4937759" y="1789098"/>
            <a:ext cx="3931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B93AC"/>
                </a:solidFill>
              </a:defRPr>
            </a:lvl1pPr>
          </a:lstStyle>
          <a:p>
            <a:pPr/>
            <a:r>
              <a:t>Historical Data</a:t>
            </a:r>
          </a:p>
        </p:txBody>
      </p:sp>
      <p:sp>
        <p:nvSpPr>
          <p:cNvPr id="178" name="Text 11"/>
          <p:cNvSpPr txBox="1"/>
          <p:nvPr/>
        </p:nvSpPr>
        <p:spPr>
          <a:xfrm>
            <a:off x="4937759" y="2103120"/>
            <a:ext cx="3931921" cy="97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buSzPct val="100000"/>
              <a:buChar char="•"/>
              <a:defRPr sz="1300">
                <a:solidFill>
                  <a:srgbClr val="EAF0F6"/>
                </a:solidFill>
              </a:defRPr>
            </a:pPr>
            <a:r>
              <a:t>Bulk historical OHLCV data pipeline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Reliable for SMA and volatility calculations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Rate-limited — not suitable for live price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15-minute lag makes it useless for live signals</a:t>
            </a:r>
          </a:p>
          <a:p>
            <a:pPr>
              <a:defRPr sz="1300">
                <a:solidFill>
                  <a:srgbClr val="EAF0F6"/>
                </a:solidFill>
              </a:defRPr>
            </a:pPr>
            <a:r>
              <a:t>Trusted source for backtesting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81" name="Text 1"/>
          <p:cNvSpPr txBox="1"/>
          <p:nvPr/>
        </p:nvSpPr>
        <p:spPr>
          <a:xfrm>
            <a:off x="411479" y="442595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Key Architectural Decisions</a:t>
            </a:r>
          </a:p>
        </p:txBody>
      </p:sp>
      <p:sp>
        <p:nvSpPr>
          <p:cNvPr id="182" name="Shape 2"/>
          <p:cNvSpPr/>
          <p:nvPr/>
        </p:nvSpPr>
        <p:spPr>
          <a:xfrm>
            <a:off x="320040" y="1115567"/>
            <a:ext cx="8503920" cy="475488"/>
          </a:xfrm>
          <a:prstGeom prst="rect">
            <a:avLst/>
          </a:prstGeom>
          <a:solidFill>
            <a:srgbClr val="0A3260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3"/>
          <p:cNvSpPr/>
          <p:nvPr/>
        </p:nvSpPr>
        <p:spPr>
          <a:xfrm>
            <a:off x="320040" y="1115567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4"/>
          <p:cNvSpPr txBox="1"/>
          <p:nvPr/>
        </p:nvSpPr>
        <p:spPr>
          <a:xfrm>
            <a:off x="502919" y="1245361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VADER</a:t>
            </a:r>
          </a:p>
        </p:txBody>
      </p:sp>
      <p:sp>
        <p:nvSpPr>
          <p:cNvPr id="185" name="Text 5"/>
          <p:cNvSpPr txBox="1"/>
          <p:nvPr/>
        </p:nvSpPr>
        <p:spPr>
          <a:xfrm>
            <a:off x="2697479" y="1274879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BERT/FinBERT</a:t>
            </a:r>
          </a:p>
        </p:txBody>
      </p:sp>
      <p:sp>
        <p:nvSpPr>
          <p:cNvPr id="186" name="Text 6"/>
          <p:cNvSpPr txBox="1"/>
          <p:nvPr/>
        </p:nvSpPr>
        <p:spPr>
          <a:xfrm>
            <a:off x="4983479" y="1274879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Custom Crypto Lexicon support + CPU inference</a:t>
            </a:r>
          </a:p>
        </p:txBody>
      </p:sp>
      <p:sp>
        <p:nvSpPr>
          <p:cNvPr id="187" name="Shape 7"/>
          <p:cNvSpPr/>
          <p:nvPr/>
        </p:nvSpPr>
        <p:spPr>
          <a:xfrm>
            <a:off x="320040" y="1659635"/>
            <a:ext cx="8503920" cy="475488"/>
          </a:xfrm>
          <a:prstGeom prst="rect">
            <a:avLst/>
          </a:prstGeom>
          <a:solidFill>
            <a:srgbClr val="0A2A44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Shape 8"/>
          <p:cNvSpPr/>
          <p:nvPr/>
        </p:nvSpPr>
        <p:spPr>
          <a:xfrm>
            <a:off x="320040" y="1659635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9"/>
          <p:cNvSpPr txBox="1"/>
          <p:nvPr/>
        </p:nvSpPr>
        <p:spPr>
          <a:xfrm>
            <a:off x="502919" y="1789430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RSS Feeds</a:t>
            </a:r>
          </a:p>
        </p:txBody>
      </p:sp>
      <p:sp>
        <p:nvSpPr>
          <p:cNvPr id="190" name="Text 10"/>
          <p:cNvSpPr txBox="1"/>
          <p:nvPr/>
        </p:nvSpPr>
        <p:spPr>
          <a:xfrm>
            <a:off x="2697479" y="1818947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BeautifulSoup</a:t>
            </a:r>
          </a:p>
        </p:txBody>
      </p:sp>
      <p:sp>
        <p:nvSpPr>
          <p:cNvPr id="191" name="Text 11"/>
          <p:cNvSpPr txBox="1"/>
          <p:nvPr/>
        </p:nvSpPr>
        <p:spPr>
          <a:xfrm>
            <a:off x="4983479" y="1818947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Bot-proof, immutable XML data pipeline</a:t>
            </a:r>
          </a:p>
        </p:txBody>
      </p:sp>
      <p:sp>
        <p:nvSpPr>
          <p:cNvPr id="192" name="Shape 12"/>
          <p:cNvSpPr/>
          <p:nvPr/>
        </p:nvSpPr>
        <p:spPr>
          <a:xfrm>
            <a:off x="320040" y="2203704"/>
            <a:ext cx="8503920" cy="475488"/>
          </a:xfrm>
          <a:prstGeom prst="rect">
            <a:avLst/>
          </a:prstGeom>
          <a:solidFill>
            <a:srgbClr val="0A3260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13"/>
          <p:cNvSpPr/>
          <p:nvPr/>
        </p:nvSpPr>
        <p:spPr>
          <a:xfrm>
            <a:off x="320040" y="2203704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4"/>
          <p:cNvSpPr txBox="1"/>
          <p:nvPr/>
        </p:nvSpPr>
        <p:spPr>
          <a:xfrm>
            <a:off x="502919" y="2333498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XGBoost</a:t>
            </a:r>
          </a:p>
        </p:txBody>
      </p:sp>
      <p:sp>
        <p:nvSpPr>
          <p:cNvPr id="195" name="Text 15"/>
          <p:cNvSpPr txBox="1"/>
          <p:nvPr/>
        </p:nvSpPr>
        <p:spPr>
          <a:xfrm>
            <a:off x="2697479" y="2363015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LSTMs / RNNs</a:t>
            </a:r>
          </a:p>
        </p:txBody>
      </p:sp>
      <p:sp>
        <p:nvSpPr>
          <p:cNvPr id="196" name="Text 16"/>
          <p:cNvSpPr txBox="1"/>
          <p:nvPr/>
        </p:nvSpPr>
        <p:spPr>
          <a:xfrm>
            <a:off x="4983479" y="2363015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CPU training, interpretable, predict_proba</a:t>
            </a:r>
          </a:p>
        </p:txBody>
      </p:sp>
      <p:sp>
        <p:nvSpPr>
          <p:cNvPr id="197" name="Shape 17"/>
          <p:cNvSpPr/>
          <p:nvPr/>
        </p:nvSpPr>
        <p:spPr>
          <a:xfrm>
            <a:off x="320040" y="2747772"/>
            <a:ext cx="8503920" cy="475488"/>
          </a:xfrm>
          <a:prstGeom prst="rect">
            <a:avLst/>
          </a:prstGeom>
          <a:solidFill>
            <a:srgbClr val="0A2A44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18"/>
          <p:cNvSpPr/>
          <p:nvPr/>
        </p:nvSpPr>
        <p:spPr>
          <a:xfrm>
            <a:off x="320040" y="2747772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9"/>
          <p:cNvSpPr txBox="1"/>
          <p:nvPr/>
        </p:nvSpPr>
        <p:spPr>
          <a:xfrm>
            <a:off x="502919" y="2877566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Stationary Features</a:t>
            </a:r>
          </a:p>
        </p:txBody>
      </p:sp>
      <p:sp>
        <p:nvSpPr>
          <p:cNvPr id="200" name="Text 20"/>
          <p:cNvSpPr txBox="1"/>
          <p:nvPr/>
        </p:nvSpPr>
        <p:spPr>
          <a:xfrm>
            <a:off x="2697479" y="2907083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Absolute Prices</a:t>
            </a:r>
          </a:p>
        </p:txBody>
      </p:sp>
      <p:sp>
        <p:nvSpPr>
          <p:cNvPr id="201" name="Text 21"/>
          <p:cNvSpPr txBox="1"/>
          <p:nvPr/>
        </p:nvSpPr>
        <p:spPr>
          <a:xfrm>
            <a:off x="4983479" y="2907083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30.95% → 61% accuracy. Generalizes across market regimes</a:t>
            </a:r>
          </a:p>
        </p:txBody>
      </p:sp>
      <p:sp>
        <p:nvSpPr>
          <p:cNvPr id="202" name="Shape 22"/>
          <p:cNvSpPr/>
          <p:nvPr/>
        </p:nvSpPr>
        <p:spPr>
          <a:xfrm>
            <a:off x="320040" y="3291840"/>
            <a:ext cx="8503920" cy="475488"/>
          </a:xfrm>
          <a:prstGeom prst="rect">
            <a:avLst/>
          </a:prstGeom>
          <a:solidFill>
            <a:srgbClr val="0A3260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23"/>
          <p:cNvSpPr/>
          <p:nvPr/>
        </p:nvSpPr>
        <p:spPr>
          <a:xfrm>
            <a:off x="320040" y="3291840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24"/>
          <p:cNvSpPr txBox="1"/>
          <p:nvPr/>
        </p:nvSpPr>
        <p:spPr>
          <a:xfrm>
            <a:off x="502919" y="3421633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TimeSeriesSplit</a:t>
            </a:r>
          </a:p>
        </p:txBody>
      </p:sp>
      <p:sp>
        <p:nvSpPr>
          <p:cNvPr id="205" name="Text 25"/>
          <p:cNvSpPr txBox="1"/>
          <p:nvPr/>
        </p:nvSpPr>
        <p:spPr>
          <a:xfrm>
            <a:off x="2697479" y="3451151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GridSearchCV</a:t>
            </a:r>
          </a:p>
        </p:txBody>
      </p:sp>
      <p:sp>
        <p:nvSpPr>
          <p:cNvPr id="206" name="Text 26"/>
          <p:cNvSpPr txBox="1"/>
          <p:nvPr/>
        </p:nvSpPr>
        <p:spPr>
          <a:xfrm>
            <a:off x="4983479" y="3451151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Prevents future data leakage in chronological data</a:t>
            </a:r>
          </a:p>
        </p:txBody>
      </p:sp>
      <p:sp>
        <p:nvSpPr>
          <p:cNvPr id="207" name="Shape 27"/>
          <p:cNvSpPr/>
          <p:nvPr/>
        </p:nvSpPr>
        <p:spPr>
          <a:xfrm>
            <a:off x="320040" y="3835908"/>
            <a:ext cx="8503920" cy="475488"/>
          </a:xfrm>
          <a:prstGeom prst="rect">
            <a:avLst/>
          </a:prstGeom>
          <a:solidFill>
            <a:srgbClr val="0A2A44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Shape 28"/>
          <p:cNvSpPr/>
          <p:nvPr/>
        </p:nvSpPr>
        <p:spPr>
          <a:xfrm>
            <a:off x="320040" y="3835908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9"/>
          <p:cNvSpPr txBox="1"/>
          <p:nvPr/>
        </p:nvSpPr>
        <p:spPr>
          <a:xfrm>
            <a:off x="502919" y="3965701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Streamlit</a:t>
            </a:r>
          </a:p>
        </p:txBody>
      </p:sp>
      <p:sp>
        <p:nvSpPr>
          <p:cNvPr id="210" name="Text 30"/>
          <p:cNvSpPr txBox="1"/>
          <p:nvPr/>
        </p:nvSpPr>
        <p:spPr>
          <a:xfrm>
            <a:off x="2697479" y="3995219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React + Flask</a:t>
            </a:r>
          </a:p>
        </p:txBody>
      </p:sp>
      <p:sp>
        <p:nvSpPr>
          <p:cNvPr id="211" name="Text 31"/>
          <p:cNvSpPr txBox="1"/>
          <p:nvPr/>
        </p:nvSpPr>
        <p:spPr>
          <a:xfrm>
            <a:off x="4983479" y="3995219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Pure Python, rapid deployment, built-in caching</a:t>
            </a:r>
          </a:p>
        </p:txBody>
      </p:sp>
      <p:sp>
        <p:nvSpPr>
          <p:cNvPr id="212" name="Shape 32"/>
          <p:cNvSpPr/>
          <p:nvPr/>
        </p:nvSpPr>
        <p:spPr>
          <a:xfrm>
            <a:off x="320040" y="4379976"/>
            <a:ext cx="8503920" cy="475488"/>
          </a:xfrm>
          <a:prstGeom prst="rect">
            <a:avLst/>
          </a:prstGeom>
          <a:solidFill>
            <a:srgbClr val="0A3260"/>
          </a:solidFill>
          <a:ln w="12700">
            <a:solidFill>
              <a:srgbClr val="0D33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33"/>
          <p:cNvSpPr/>
          <p:nvPr/>
        </p:nvSpPr>
        <p:spPr>
          <a:xfrm>
            <a:off x="320040" y="4379976"/>
            <a:ext cx="64009" cy="47548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34"/>
          <p:cNvSpPr txBox="1"/>
          <p:nvPr/>
        </p:nvSpPr>
        <p:spPr>
          <a:xfrm>
            <a:off x="502919" y="4509769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Binance API</a:t>
            </a:r>
          </a:p>
        </p:txBody>
      </p:sp>
      <p:sp>
        <p:nvSpPr>
          <p:cNvPr id="215" name="Text 35"/>
          <p:cNvSpPr txBox="1"/>
          <p:nvPr/>
        </p:nvSpPr>
        <p:spPr>
          <a:xfrm>
            <a:off x="2697479" y="4539287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over Yahoo Finance (live)</a:t>
            </a:r>
          </a:p>
        </p:txBody>
      </p:sp>
      <p:sp>
        <p:nvSpPr>
          <p:cNvPr id="216" name="Text 36"/>
          <p:cNvSpPr txBox="1"/>
          <p:nvPr/>
        </p:nvSpPr>
        <p:spPr>
          <a:xfrm>
            <a:off x="4983479" y="4539287"/>
            <a:ext cx="3749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Millisecond latency vs. 15-minute delay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 txBox="1"/>
          <p:nvPr/>
        </p:nvSpPr>
        <p:spPr>
          <a:xfrm>
            <a:off x="411480" y="187959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3 · CRITICAL INFRASTRUCTURE</a:t>
            </a:r>
          </a:p>
        </p:txBody>
      </p:sp>
      <p:sp>
        <p:nvSpPr>
          <p:cNvPr id="219" name="Text 1"/>
          <p:cNvSpPr txBox="1"/>
          <p:nvPr/>
        </p:nvSpPr>
        <p:spPr>
          <a:xfrm>
            <a:off x="411479" y="541019"/>
            <a:ext cx="83210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Caching Strategy — TTL Hierarchy</a:t>
            </a:r>
          </a:p>
        </p:txBody>
      </p:sp>
      <p:sp>
        <p:nvSpPr>
          <p:cNvPr id="220" name="Text 2"/>
          <p:cNvSpPr txBox="1"/>
          <p:nvPr/>
        </p:nvSpPr>
        <p:spPr>
          <a:xfrm>
            <a:off x="411479" y="1293167"/>
            <a:ext cx="8321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B93AC"/>
                </a:solidFill>
              </a:defRPr>
            </a:lvl1pPr>
          </a:lstStyle>
          <a:p>
            <a:pPr/>
            <a:r>
              <a:t>Without caching: UX lag + instant IP ban. With caching: millisecond response, protected pipeline.</a:t>
            </a:r>
          </a:p>
        </p:txBody>
      </p:sp>
      <p:sp>
        <p:nvSpPr>
          <p:cNvPr id="221" name="Shape 3"/>
          <p:cNvSpPr/>
          <p:nvPr/>
        </p:nvSpPr>
        <p:spPr>
          <a:xfrm>
            <a:off x="320040" y="1600200"/>
            <a:ext cx="8503920" cy="749809"/>
          </a:xfrm>
          <a:prstGeom prst="rect">
            <a:avLst/>
          </a:prstGeom>
          <a:solidFill>
            <a:srgbClr val="112038"/>
          </a:solidFill>
          <a:ln w="12700">
            <a:solidFill>
              <a:srgbClr val="0D2B4A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" name="Shape 4"/>
          <p:cNvSpPr/>
          <p:nvPr/>
        </p:nvSpPr>
        <p:spPr>
          <a:xfrm>
            <a:off x="320040" y="1600200"/>
            <a:ext cx="64009" cy="749809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5"/>
          <p:cNvSpPr txBox="1"/>
          <p:nvPr/>
        </p:nvSpPr>
        <p:spPr>
          <a:xfrm>
            <a:off x="502919" y="1743378"/>
            <a:ext cx="2834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F7B731"/>
                </a:solidFill>
              </a:defRPr>
            </a:lvl1pPr>
          </a:lstStyle>
          <a:p>
            <a:pPr/>
            <a:r>
              <a:t>@st.cache_resource</a:t>
            </a:r>
          </a:p>
        </p:txBody>
      </p:sp>
      <p:sp>
        <p:nvSpPr>
          <p:cNvPr id="224" name="Text 6"/>
          <p:cNvSpPr txBox="1"/>
          <p:nvPr/>
        </p:nvSpPr>
        <p:spPr>
          <a:xfrm>
            <a:off x="502919" y="2062016"/>
            <a:ext cx="2926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B93AC"/>
                </a:solidFill>
              </a:defRPr>
            </a:lvl1pPr>
          </a:lstStyle>
          <a:p>
            <a:pPr/>
            <a:r>
              <a:t>TTL: ∞ — Loaded Once  ·  XGBoost .pkl model</a:t>
            </a:r>
          </a:p>
        </p:txBody>
      </p:sp>
      <p:sp>
        <p:nvSpPr>
          <p:cNvPr id="225" name="Text 7"/>
          <p:cNvSpPr txBox="1"/>
          <p:nvPr/>
        </p:nvSpPr>
        <p:spPr>
          <a:xfrm>
            <a:off x="3520440" y="1801421"/>
            <a:ext cx="51663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The ML brain is loaded into RAM exactly once at startup. Every user request reuses the same in-memory model — zero reload cost.</a:t>
            </a:r>
          </a:p>
        </p:txBody>
      </p:sp>
      <p:sp>
        <p:nvSpPr>
          <p:cNvPr id="226" name="Shape 8"/>
          <p:cNvSpPr/>
          <p:nvPr/>
        </p:nvSpPr>
        <p:spPr>
          <a:xfrm>
            <a:off x="320040" y="2450592"/>
            <a:ext cx="8503920" cy="749809"/>
          </a:xfrm>
          <a:prstGeom prst="rect">
            <a:avLst/>
          </a:prstGeom>
          <a:solidFill>
            <a:srgbClr val="0D2137"/>
          </a:solidFill>
          <a:ln w="12700">
            <a:solidFill>
              <a:srgbClr val="0D2B4A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Shape 9"/>
          <p:cNvSpPr/>
          <p:nvPr/>
        </p:nvSpPr>
        <p:spPr>
          <a:xfrm>
            <a:off x="320040" y="2450592"/>
            <a:ext cx="64009" cy="749809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0"/>
          <p:cNvSpPr txBox="1"/>
          <p:nvPr/>
        </p:nvSpPr>
        <p:spPr>
          <a:xfrm>
            <a:off x="502919" y="2593770"/>
            <a:ext cx="2834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00C9A7"/>
                </a:solidFill>
              </a:defRPr>
            </a:lvl1pPr>
          </a:lstStyle>
          <a:p>
            <a:pPr/>
            <a:r>
              <a:t>@st.cache_data(ttl=300)</a:t>
            </a:r>
          </a:p>
        </p:txBody>
      </p:sp>
      <p:sp>
        <p:nvSpPr>
          <p:cNvPr id="229" name="Text 11"/>
          <p:cNvSpPr txBox="1"/>
          <p:nvPr/>
        </p:nvSpPr>
        <p:spPr>
          <a:xfrm>
            <a:off x="502919" y="2912408"/>
            <a:ext cx="2926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B93AC"/>
                </a:solidFill>
              </a:defRPr>
            </a:lvl1pPr>
          </a:lstStyle>
          <a:p>
            <a:pPr/>
            <a:r>
              <a:t>TTL: 5 Minutes  ·  Yahoo Finance data</a:t>
            </a:r>
          </a:p>
        </p:txBody>
      </p:sp>
      <p:sp>
        <p:nvSpPr>
          <p:cNvPr id="230" name="Text 12"/>
          <p:cNvSpPr txBox="1"/>
          <p:nvPr/>
        </p:nvSpPr>
        <p:spPr>
          <a:xfrm>
            <a:off x="3520440" y="2651813"/>
            <a:ext cx="51663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Historical SMA and volatility data. Refreshes every 5 minutes — fresh enough for indicators, not hammering the Yahoo API.</a:t>
            </a:r>
          </a:p>
        </p:txBody>
      </p:sp>
      <p:sp>
        <p:nvSpPr>
          <p:cNvPr id="231" name="Shape 13"/>
          <p:cNvSpPr/>
          <p:nvPr/>
        </p:nvSpPr>
        <p:spPr>
          <a:xfrm>
            <a:off x="320040" y="3300984"/>
            <a:ext cx="8503920" cy="749809"/>
          </a:xfrm>
          <a:prstGeom prst="rect">
            <a:avLst/>
          </a:prstGeom>
          <a:solidFill>
            <a:srgbClr val="112038"/>
          </a:solidFill>
          <a:ln w="12700">
            <a:solidFill>
              <a:srgbClr val="0D2B4A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" name="Shape 14"/>
          <p:cNvSpPr/>
          <p:nvPr/>
        </p:nvSpPr>
        <p:spPr>
          <a:xfrm>
            <a:off x="320040" y="3300984"/>
            <a:ext cx="64009" cy="749809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15"/>
          <p:cNvSpPr txBox="1"/>
          <p:nvPr/>
        </p:nvSpPr>
        <p:spPr>
          <a:xfrm>
            <a:off x="502919" y="3444161"/>
            <a:ext cx="28346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E040FB"/>
                </a:solidFill>
              </a:defRPr>
            </a:lvl1pPr>
          </a:lstStyle>
          <a:p>
            <a:pPr/>
            <a:r>
              <a:t>@st.cache_data(ttl=3600)</a:t>
            </a:r>
          </a:p>
        </p:txBody>
      </p:sp>
      <p:sp>
        <p:nvSpPr>
          <p:cNvPr id="234" name="Text 16"/>
          <p:cNvSpPr txBox="1"/>
          <p:nvPr/>
        </p:nvSpPr>
        <p:spPr>
          <a:xfrm>
            <a:off x="502919" y="3762800"/>
            <a:ext cx="2926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B93AC"/>
                </a:solidFill>
              </a:defRPr>
            </a:lvl1pPr>
          </a:lstStyle>
          <a:p>
            <a:pPr/>
            <a:r>
              <a:t>TTL: 1 Hour  ·  NLP RSS Scraper</a:t>
            </a:r>
          </a:p>
        </p:txBody>
      </p:sp>
      <p:sp>
        <p:nvSpPr>
          <p:cNvPr id="235" name="Text 17"/>
          <p:cNvSpPr txBox="1"/>
          <p:nvPr/>
        </p:nvSpPr>
        <p:spPr>
          <a:xfrm>
            <a:off x="3520440" y="3502205"/>
            <a:ext cx="51663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CoinDesk &amp; Cointelegraph news. Cached for 1 hour to protect the IP address from being blacklisted by the news servers.</a:t>
            </a:r>
          </a:p>
        </p:txBody>
      </p:sp>
      <p:sp>
        <p:nvSpPr>
          <p:cNvPr id="236" name="Shape 18"/>
          <p:cNvSpPr/>
          <p:nvPr/>
        </p:nvSpPr>
        <p:spPr>
          <a:xfrm>
            <a:off x="320040" y="4151376"/>
            <a:ext cx="8503920" cy="749809"/>
          </a:xfrm>
          <a:prstGeom prst="rect">
            <a:avLst/>
          </a:prstGeom>
          <a:solidFill>
            <a:srgbClr val="0D2137"/>
          </a:solidFill>
          <a:ln w="12700">
            <a:solidFill>
              <a:srgbClr val="0D2B4A"/>
            </a:solidFill>
          </a:ln>
          <a:effectLst>
            <a:outerShdw sx="100000" sy="100000" kx="0" ky="0" algn="b" rotWithShape="0" blurRad="101600" dist="38100" dir="8100000">
              <a:srgbClr val="000000">
                <a:alpha val="2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" name="Shape 19"/>
          <p:cNvSpPr/>
          <p:nvPr/>
        </p:nvSpPr>
        <p:spPr>
          <a:xfrm>
            <a:off x="320040" y="4151376"/>
            <a:ext cx="64009" cy="749809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20"/>
          <p:cNvSpPr txBox="1"/>
          <p:nvPr/>
        </p:nvSpPr>
        <p:spPr>
          <a:xfrm>
            <a:off x="502919" y="4294554"/>
            <a:ext cx="2834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FF4444"/>
                </a:solidFill>
              </a:defRPr>
            </a:lvl1pPr>
          </a:lstStyle>
          <a:p>
            <a:pPr/>
            <a:r>
              <a:t>No cache</a:t>
            </a:r>
          </a:p>
        </p:txBody>
      </p:sp>
      <p:sp>
        <p:nvSpPr>
          <p:cNvPr id="239" name="Text 21"/>
          <p:cNvSpPr txBox="1"/>
          <p:nvPr/>
        </p:nvSpPr>
        <p:spPr>
          <a:xfrm>
            <a:off x="502919" y="4613192"/>
            <a:ext cx="2926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B93AC"/>
                </a:solidFill>
              </a:defRPr>
            </a:lvl1pPr>
          </a:lstStyle>
          <a:p>
            <a:pPr/>
            <a:r>
              <a:t>TTL: Real-time  ·  Binance live price</a:t>
            </a:r>
          </a:p>
        </p:txBody>
      </p:sp>
      <p:sp>
        <p:nvSpPr>
          <p:cNvPr id="240" name="Text 22"/>
          <p:cNvSpPr txBox="1"/>
          <p:nvPr/>
        </p:nvSpPr>
        <p:spPr>
          <a:xfrm>
            <a:off x="3520440" y="4352597"/>
            <a:ext cx="51663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F6"/>
                </a:solidFill>
              </a:defRPr>
            </a:lvl1pPr>
          </a:lstStyle>
          <a:p>
            <a:pPr/>
            <a:r>
              <a:t>The only uncached call. Fetches fresh millisecond-latency BTC price on every user interaction via direct HTTP.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6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Shape 1"/>
          <p:cNvSpPr/>
          <p:nvPr/>
        </p:nvSpPr>
        <p:spPr>
          <a:xfrm>
            <a:off x="-1" y="0"/>
            <a:ext cx="73154" cy="51435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2"/>
          <p:cNvSpPr txBox="1"/>
          <p:nvPr/>
        </p:nvSpPr>
        <p:spPr>
          <a:xfrm>
            <a:off x="457200" y="817625"/>
            <a:ext cx="82296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00C9A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45" name="Text 3"/>
          <p:cNvSpPr txBox="1"/>
          <p:nvPr/>
        </p:nvSpPr>
        <p:spPr>
          <a:xfrm>
            <a:off x="457200" y="1116330"/>
            <a:ext cx="82296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What This System Proves</a:t>
            </a:r>
          </a:p>
        </p:txBody>
      </p:sp>
      <p:sp>
        <p:nvSpPr>
          <p:cNvPr id="246" name="Text 4"/>
          <p:cNvSpPr txBox="1"/>
          <p:nvPr/>
        </p:nvSpPr>
        <p:spPr>
          <a:xfrm>
            <a:off x="457200" y="2006854"/>
            <a:ext cx="5943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7" name="Text 5"/>
          <p:cNvSpPr txBox="1"/>
          <p:nvPr/>
        </p:nvSpPr>
        <p:spPr>
          <a:xfrm>
            <a:off x="1143000" y="2161470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Robust architecture requires justifying every tool choice against its alternatives — not defaulting to trend.</a:t>
            </a:r>
          </a:p>
        </p:txBody>
      </p:sp>
      <p:sp>
        <p:nvSpPr>
          <p:cNvPr id="248" name="Text 6"/>
          <p:cNvSpPr txBox="1"/>
          <p:nvPr/>
        </p:nvSpPr>
        <p:spPr>
          <a:xfrm>
            <a:off x="457200" y="2756662"/>
            <a:ext cx="5943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49" name="Text 7"/>
          <p:cNvSpPr txBox="1"/>
          <p:nvPr/>
        </p:nvSpPr>
        <p:spPr>
          <a:xfrm>
            <a:off x="1143000" y="2809678"/>
            <a:ext cx="7589519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Feature engineering quality matters more than model selection. Stationary features doubled accuracy from 30.95% → 61%.</a:t>
            </a:r>
          </a:p>
        </p:txBody>
      </p:sp>
      <p:sp>
        <p:nvSpPr>
          <p:cNvPr id="250" name="Text 8"/>
          <p:cNvSpPr txBox="1"/>
          <p:nvPr/>
        </p:nvSpPr>
        <p:spPr>
          <a:xfrm>
            <a:off x="457200" y="3506470"/>
            <a:ext cx="5943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51" name="Text 9"/>
          <p:cNvSpPr txBox="1"/>
          <p:nvPr/>
        </p:nvSpPr>
        <p:spPr>
          <a:xfrm>
            <a:off x="1143000" y="3661086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Time-series data requires time-aware validation. Standard cross-validation is fundamentally incompatible.</a:t>
            </a:r>
          </a:p>
        </p:txBody>
      </p:sp>
      <p:sp>
        <p:nvSpPr>
          <p:cNvPr id="252" name="Text 10"/>
          <p:cNvSpPr txBox="1"/>
          <p:nvPr/>
        </p:nvSpPr>
        <p:spPr>
          <a:xfrm>
            <a:off x="457200" y="4256278"/>
            <a:ext cx="5943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7B73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53" name="Text 11"/>
          <p:cNvSpPr txBox="1"/>
          <p:nvPr/>
        </p:nvSpPr>
        <p:spPr>
          <a:xfrm>
            <a:off x="1143000" y="4410894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AF0F6"/>
                </a:solidFill>
              </a:defRPr>
            </a:lvl1pPr>
          </a:lstStyle>
          <a:p>
            <a:pPr/>
            <a:r>
              <a:t>Production readiness = caching + error handling + controlled UX. Live demos demand a discrete predict button.</a:t>
            </a:r>
          </a:p>
        </p:txBody>
      </p:sp>
      <p:sp>
        <p:nvSpPr>
          <p:cNvPr id="254" name="Shape 12"/>
          <p:cNvSpPr/>
          <p:nvPr/>
        </p:nvSpPr>
        <p:spPr>
          <a:xfrm>
            <a:off x="0" y="4956047"/>
            <a:ext cx="9144000" cy="54865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13"/>
          <p:cNvSpPr txBox="1"/>
          <p:nvPr/>
        </p:nvSpPr>
        <p:spPr>
          <a:xfrm>
            <a:off x="182879" y="4819396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B93A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Crypto AI Trading Terminal  ·  Architecture &amp; Engineering Report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